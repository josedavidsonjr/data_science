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533883" cy="291643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526739" y="0"/>
            <a:ext cx="7144" cy="2916436"/>
          </a:xfrm>
          <a:prstGeom prst="rect">
            <a:avLst/>
          </a:prstGeom>
          <a:solidFill>
            <a:srgbClr val="2C363F"/>
          </a:solidFill>
          <a:ln/>
        </p:spPr>
      </p:sp>
      <p:sp>
        <p:nvSpPr>
          <p:cNvPr id="5" name="Text 2"/>
          <p:cNvSpPr/>
          <p:nvPr/>
        </p:nvSpPr>
        <p:spPr>
          <a:xfrm>
            <a:off x="442913" y="371475"/>
            <a:ext cx="1643063" cy="609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500" dirty="0">
                <a:solidFill>
                  <a:srgbClr val="E75A7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973</a:t>
            </a:r>
            <a:endParaRPr lang="en-US" sz="3500" dirty="0"/>
          </a:p>
        </p:txBody>
      </p:sp>
      <p:sp>
        <p:nvSpPr>
          <p:cNvPr id="6" name="Text 3"/>
          <p:cNvSpPr/>
          <p:nvPr/>
        </p:nvSpPr>
        <p:spPr>
          <a:xfrm>
            <a:off x="442913" y="980480"/>
            <a:ext cx="164306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spc="2" kern="0" dirty="0">
                <a:solidFill>
                  <a:srgbClr val="2C363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CONTRATOS ANALISADOS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730448" y="1219795"/>
            <a:ext cx="1067991" cy="609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500" dirty="0">
                <a:solidFill>
                  <a:srgbClr val="E75A7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05</a:t>
            </a:r>
            <a:endParaRPr lang="en-US" sz="3500" dirty="0"/>
          </a:p>
        </p:txBody>
      </p:sp>
      <p:sp>
        <p:nvSpPr>
          <p:cNvPr id="8" name="Text 5"/>
          <p:cNvSpPr/>
          <p:nvPr/>
        </p:nvSpPr>
        <p:spPr>
          <a:xfrm>
            <a:off x="730448" y="1828800"/>
            <a:ext cx="106799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spc="2" kern="0" dirty="0">
                <a:solidFill>
                  <a:srgbClr val="2C363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ANOS DE DADOS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66142" y="2068116"/>
            <a:ext cx="1396603" cy="609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500" dirty="0">
                <a:solidFill>
                  <a:srgbClr val="E75A7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2021</a:t>
            </a:r>
            <a:endParaRPr lang="en-US" sz="3500" dirty="0"/>
          </a:p>
        </p:txBody>
      </p:sp>
      <p:sp>
        <p:nvSpPr>
          <p:cNvPr id="10" name="Text 7"/>
          <p:cNvSpPr/>
          <p:nvPr/>
        </p:nvSpPr>
        <p:spPr>
          <a:xfrm>
            <a:off x="566142" y="2677120"/>
            <a:ext cx="139660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spc="2" kern="0" dirty="0">
                <a:solidFill>
                  <a:srgbClr val="2C363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INÍCIO DO PERÍODO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2814638" y="687084"/>
            <a:ext cx="5900738" cy="84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750" b="1" dirty="0">
                <a:solidFill>
                  <a:srgbClr val="2C363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Desafios na Execução Orçamentária e Dados</a:t>
            </a:r>
            <a:endParaRPr lang="en-US" sz="2750" dirty="0"/>
          </a:p>
        </p:txBody>
      </p:sp>
      <p:sp>
        <p:nvSpPr>
          <p:cNvPr id="12" name="Text 9"/>
          <p:cNvSpPr/>
          <p:nvPr/>
        </p:nvSpPr>
        <p:spPr>
          <a:xfrm>
            <a:off x="2814638" y="1650039"/>
            <a:ext cx="20359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0798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[1]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103959" y="1650039"/>
            <a:ext cx="5611416" cy="455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C36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Definição de </a:t>
            </a:r>
            <a:r>
              <a:rPr lang="en-US" sz="1100" b="1" dirty="0">
                <a:solidFill>
                  <a:srgbClr val="E75A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Execução Problemática</a:t>
            </a:r>
            <a:r>
              <a:rPr lang="en-US" sz="1150" dirty="0">
                <a:solidFill>
                  <a:srgbClr val="2C36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: Contratos com pagamentos &lt; 70% </a:t>
            </a:r>
            <a:r>
              <a:rPr lang="en-US" sz="1150" dirty="0">
                <a:solidFill>
                  <a:srgbClr val="2C36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 valor empenhado ou anulação total/parcial.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2814638" y="2191513"/>
            <a:ext cx="20359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0798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[2]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103959" y="2191513"/>
            <a:ext cx="5611416" cy="455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C36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Fonte: Dados brutos extraídos do </a:t>
            </a:r>
            <a:r>
              <a:rPr lang="en-US" sz="1100" b="1" dirty="0">
                <a:solidFill>
                  <a:srgbClr val="E75A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Portal da Transparência FACAPE</a:t>
            </a:r>
            <a:r>
              <a:rPr lang="en-US" sz="1150" dirty="0">
                <a:solidFill>
                  <a:srgbClr val="2C36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(2021–</a:t>
            </a:r>
            <a:r>
              <a:rPr lang="en-US" sz="1150" dirty="0">
                <a:solidFill>
                  <a:srgbClr val="2C36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2025).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2814638" y="2732987"/>
            <a:ext cx="20359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0798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[3]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3103959" y="2732987"/>
            <a:ext cx="5611416" cy="455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C36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Impacto: Riscos orçamentários severos e alto custo operacional por retrabalho administrativo.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2814638" y="3274461"/>
            <a:ext cx="20359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0798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[4]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3103959" y="3274461"/>
            <a:ext cx="5611416" cy="455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C36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Objetivo: Transformar dados em inteligência para otimizar a </a:t>
            </a:r>
            <a:r>
              <a:rPr lang="en-US" sz="1100" b="1" dirty="0">
                <a:solidFill>
                  <a:srgbClr val="E75A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governança </a:t>
            </a:r>
            <a:r>
              <a:rPr lang="en-US" sz="1100" b="1" dirty="0">
                <a:solidFill>
                  <a:srgbClr val="E75A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pública</a:t>
            </a:r>
            <a:r>
              <a:rPr lang="en-US" sz="1150" dirty="0">
                <a:solidFill>
                  <a:srgbClr val="2C36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533883" cy="5143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526739" y="0"/>
            <a:ext cx="7144" cy="5143500"/>
          </a:xfrm>
          <a:prstGeom prst="rect">
            <a:avLst/>
          </a:prstGeom>
          <a:solidFill>
            <a:srgbClr val="2C363F"/>
          </a:solidFill>
          <a:ln/>
        </p:spPr>
      </p:sp>
      <p:sp>
        <p:nvSpPr>
          <p:cNvPr id="5" name="Text 2"/>
          <p:cNvSpPr/>
          <p:nvPr/>
        </p:nvSpPr>
        <p:spPr>
          <a:xfrm>
            <a:off x="142875" y="428625"/>
            <a:ext cx="2243138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2950" dirty="0">
                <a:solidFill>
                  <a:srgbClr val="E75A7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R$ 11,7M</a:t>
            </a:r>
            <a:endParaRPr lang="en-US" sz="2950" dirty="0"/>
          </a:p>
        </p:txBody>
      </p:sp>
      <p:sp>
        <p:nvSpPr>
          <p:cNvPr id="6" name="Text 3"/>
          <p:cNvSpPr/>
          <p:nvPr/>
        </p:nvSpPr>
        <p:spPr>
          <a:xfrm>
            <a:off x="314325" y="892969"/>
            <a:ext cx="190023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spc="1" kern="0" dirty="0">
                <a:solidFill>
                  <a:srgbClr val="2C363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EMPENHADO EM FOPAG PROFESSOR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026914" y="1039416"/>
            <a:ext cx="475059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spc="1" kern="0" dirty="0">
                <a:solidFill>
                  <a:srgbClr val="2C363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EFETIVO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348258" y="1393031"/>
            <a:ext cx="1832372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2950" dirty="0">
                <a:solidFill>
                  <a:srgbClr val="E75A7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46%</a:t>
            </a:r>
            <a:endParaRPr lang="en-US" sz="2950" dirty="0"/>
          </a:p>
        </p:txBody>
      </p:sp>
      <p:sp>
        <p:nvSpPr>
          <p:cNvPr id="9" name="Text 6"/>
          <p:cNvSpPr/>
          <p:nvPr/>
        </p:nvSpPr>
        <p:spPr>
          <a:xfrm>
            <a:off x="348258" y="1857375"/>
            <a:ext cx="1832372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spc="1" kern="0" dirty="0">
                <a:solidFill>
                  <a:srgbClr val="2C363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TAXA DE EXECUÇÃO DESTE ITEM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2814638" y="658341"/>
            <a:ext cx="5900738" cy="754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2C363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Insights da EDA: Discrepâncias Críticas</a:t>
            </a:r>
            <a:endParaRPr lang="en-US" sz="2450" dirty="0"/>
          </a:p>
        </p:txBody>
      </p:sp>
      <p:sp>
        <p:nvSpPr>
          <p:cNvPr id="11" name="Text 8"/>
          <p:cNvSpPr/>
          <p:nvPr/>
        </p:nvSpPr>
        <p:spPr>
          <a:xfrm>
            <a:off x="2814638" y="1555552"/>
            <a:ext cx="20359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0798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[1]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3125391" y="1555552"/>
            <a:ext cx="5589984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2C36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</a:t>
            </a:r>
            <a:r>
              <a:rPr lang="en-US" sz="900" b="1" dirty="0">
                <a:solidFill>
                  <a:srgbClr val="E75A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Evolução dos Gastos</a:t>
            </a:r>
            <a:r>
              <a:rPr lang="en-US" sz="950" dirty="0">
                <a:solidFill>
                  <a:srgbClr val="2C36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revela flutuações sazonais acentuadas no planejamento </a:t>
            </a:r>
            <a:r>
              <a:rPr lang="en-US" sz="950" dirty="0">
                <a:solidFill>
                  <a:srgbClr val="2C36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institucional.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814638" y="1987023"/>
            <a:ext cx="20359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0798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[2]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3125391" y="1987023"/>
            <a:ext cx="5393531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2C36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Identificamos </a:t>
            </a:r>
            <a:r>
              <a:rPr lang="en-US" sz="900" b="1" dirty="0">
                <a:solidFill>
                  <a:srgbClr val="E75A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concentração de fornecedores</a:t>
            </a:r>
            <a:r>
              <a:rPr lang="en-US" sz="950" dirty="0">
                <a:solidFill>
                  <a:srgbClr val="2C36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em categorias de alto volume financeiro.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814638" y="2238477"/>
            <a:ext cx="20359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0798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[3]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125391" y="2238477"/>
            <a:ext cx="549711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2C36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caso da folha docente aponta para falhas severas no planejamento de despesas fixas.</a:t>
            </a:r>
            <a:endParaRPr lang="en-US" sz="9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4638" y="2525650"/>
            <a:ext cx="5895380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533883" cy="5143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526739" y="0"/>
            <a:ext cx="7144" cy="5143500"/>
          </a:xfrm>
          <a:prstGeom prst="rect">
            <a:avLst/>
          </a:prstGeom>
          <a:solidFill>
            <a:srgbClr val="2C363F"/>
          </a:solidFill>
          <a:ln/>
        </p:spPr>
      </p:sp>
      <p:sp>
        <p:nvSpPr>
          <p:cNvPr id="5" name="Text 2"/>
          <p:cNvSpPr/>
          <p:nvPr/>
        </p:nvSpPr>
        <p:spPr>
          <a:xfrm>
            <a:off x="619720" y="428625"/>
            <a:ext cx="1289447" cy="609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500" dirty="0">
                <a:solidFill>
                  <a:srgbClr val="E75A7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0.893</a:t>
            </a:r>
            <a:endParaRPr lang="en-US" sz="3500" dirty="0"/>
          </a:p>
        </p:txBody>
      </p:sp>
      <p:sp>
        <p:nvSpPr>
          <p:cNvPr id="6" name="Text 3"/>
          <p:cNvSpPr/>
          <p:nvPr/>
        </p:nvSpPr>
        <p:spPr>
          <a:xfrm>
            <a:off x="619720" y="1044773"/>
            <a:ext cx="1289447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spc="1" kern="0" dirty="0">
                <a:solidFill>
                  <a:srgbClr val="2C363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AUC (RANDOM FOREST)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51855" y="1284089"/>
            <a:ext cx="1425178" cy="609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500" dirty="0">
                <a:solidFill>
                  <a:srgbClr val="E75A7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34%</a:t>
            </a:r>
            <a:endParaRPr lang="en-US" sz="3500" dirty="0"/>
          </a:p>
        </p:txBody>
      </p:sp>
      <p:sp>
        <p:nvSpPr>
          <p:cNvPr id="8" name="Text 5"/>
          <p:cNvSpPr/>
          <p:nvPr/>
        </p:nvSpPr>
        <p:spPr>
          <a:xfrm>
            <a:off x="551855" y="1900238"/>
            <a:ext cx="1425178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spc="1" kern="0" dirty="0">
                <a:solidFill>
                  <a:srgbClr val="2C363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PESO: VALOR EMPENHADO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653653" y="2139553"/>
            <a:ext cx="1221581" cy="609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500" dirty="0">
                <a:solidFill>
                  <a:srgbClr val="E75A7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0.774</a:t>
            </a:r>
            <a:endParaRPr lang="en-US" sz="3500" dirty="0"/>
          </a:p>
        </p:txBody>
      </p:sp>
      <p:sp>
        <p:nvSpPr>
          <p:cNvPr id="10" name="Text 7"/>
          <p:cNvSpPr/>
          <p:nvPr/>
        </p:nvSpPr>
        <p:spPr>
          <a:xfrm>
            <a:off x="653653" y="2755702"/>
            <a:ext cx="1221581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spc="1" kern="0" dirty="0">
                <a:solidFill>
                  <a:srgbClr val="2C363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F1-SCORE ALCANÇADO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2814638" y="658341"/>
            <a:ext cx="5900738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2C363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Inteligência Preditiva e Resultados</a:t>
            </a:r>
            <a:endParaRPr lang="en-US" sz="2450" dirty="0"/>
          </a:p>
        </p:txBody>
      </p:sp>
      <p:sp>
        <p:nvSpPr>
          <p:cNvPr id="12" name="Text 9"/>
          <p:cNvSpPr/>
          <p:nvPr/>
        </p:nvSpPr>
        <p:spPr>
          <a:xfrm>
            <a:off x="2814638" y="1149809"/>
            <a:ext cx="20359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0798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[1]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103959" y="1149809"/>
            <a:ext cx="5441752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2C36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Metodologia </a:t>
            </a:r>
            <a:r>
              <a:rPr lang="en-US" sz="900" b="1" dirty="0">
                <a:solidFill>
                  <a:srgbClr val="E75A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Out-of-Time</a:t>
            </a:r>
            <a:r>
              <a:rPr lang="en-US" sz="950" dirty="0">
                <a:solidFill>
                  <a:srgbClr val="2C36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: Treino (2021-23) e Teste (2024-25) para simular o mundo real.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814638" y="1372688"/>
            <a:ext cx="20359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0798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[2]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103959" y="1372688"/>
            <a:ext cx="553997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2C36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modelo </a:t>
            </a:r>
            <a:r>
              <a:rPr lang="en-US" sz="900" b="1" dirty="0">
                <a:solidFill>
                  <a:srgbClr val="E75A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Random Forest Shallow</a:t>
            </a:r>
            <a:r>
              <a:rPr lang="en-US" sz="950" dirty="0">
                <a:solidFill>
                  <a:srgbClr val="2C36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superou Gradient Boosting e Logística em estabilidade.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2814638" y="1595568"/>
            <a:ext cx="20359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0798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[3]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3103959" y="1595568"/>
            <a:ext cx="5293519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2C36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Feature mais crítica: O valor logarítmico do empenho é o maior preditor de anomalias.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2814638" y="1861310"/>
            <a:ext cx="2692552" cy="25360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0798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Modelo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5507189" y="1861310"/>
            <a:ext cx="1069386" cy="253603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0798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F1-Score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6576575" y="1861310"/>
            <a:ext cx="744736" cy="253603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0798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AUC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7321311" y="1861310"/>
            <a:ext cx="1394064" cy="25360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0798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Status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2814638" y="2114913"/>
            <a:ext cx="5900738" cy="257175"/>
          </a:xfrm>
          <a:prstGeom prst="rect">
            <a:avLst/>
          </a:prstGeom>
          <a:solidFill>
            <a:srgbClr val="E75A7C">
              <a:alpha val="10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2814638" y="2114913"/>
            <a:ext cx="2692552" cy="2571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C363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Random Forest (Shallow)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5507189" y="2114913"/>
            <a:ext cx="1069386" cy="257175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C363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0.774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6576575" y="2114913"/>
            <a:ext cx="744736" cy="257175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C363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0.893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7321311" y="2114913"/>
            <a:ext cx="1394064" cy="2571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C363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Vencedor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2814638" y="2372088"/>
            <a:ext cx="2692552" cy="25360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C363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GBM (Gradient Boosting)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5507189" y="2372088"/>
            <a:ext cx="1069386" cy="253603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C363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0.752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6576575" y="2372088"/>
            <a:ext cx="744736" cy="253603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C363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0.871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7321311" y="2372088"/>
            <a:ext cx="1394064" cy="25360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C363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Overfitting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2814638" y="2625691"/>
            <a:ext cx="2692552" cy="25360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C363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Regressão Logística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5507189" y="2625691"/>
            <a:ext cx="1069386" cy="253603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C363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0.689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6576575" y="2625691"/>
            <a:ext cx="744736" cy="253603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C363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0.812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7321311" y="2625691"/>
            <a:ext cx="1394064" cy="25360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C363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Baseline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2814638" y="2879294"/>
            <a:ext cx="2692552" cy="25360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C363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SVM (RBF Kernel)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5507189" y="2879294"/>
            <a:ext cx="1069386" cy="253603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C363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0.710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6576575" y="2879294"/>
            <a:ext cx="744736" cy="253603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C363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0.835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21311" y="2879294"/>
            <a:ext cx="1394064" cy="25360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C363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Lento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533883" cy="5143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526739" y="0"/>
            <a:ext cx="7144" cy="5143500"/>
          </a:xfrm>
          <a:prstGeom prst="rect">
            <a:avLst/>
          </a:prstGeom>
          <a:solidFill>
            <a:srgbClr val="2C363F"/>
          </a:solidFill>
          <a:ln/>
        </p:spPr>
      </p:sp>
      <p:sp>
        <p:nvSpPr>
          <p:cNvPr id="5" name="Text 2"/>
          <p:cNvSpPr/>
          <p:nvPr/>
        </p:nvSpPr>
        <p:spPr>
          <a:xfrm>
            <a:off x="382191" y="214313"/>
            <a:ext cx="1764506" cy="609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500" dirty="0">
                <a:solidFill>
                  <a:srgbClr val="E75A7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111</a:t>
            </a:r>
            <a:endParaRPr lang="en-US" sz="3500" dirty="0"/>
          </a:p>
        </p:txBody>
      </p:sp>
      <p:sp>
        <p:nvSpPr>
          <p:cNvPr id="6" name="Text 3"/>
          <p:cNvSpPr/>
          <p:nvPr/>
        </p:nvSpPr>
        <p:spPr>
          <a:xfrm>
            <a:off x="382191" y="830461"/>
            <a:ext cx="1764506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spc="1" kern="0" dirty="0">
                <a:solidFill>
                  <a:srgbClr val="2C363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FORNECEDORES EM ALTO RISCO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314325" y="1055489"/>
            <a:ext cx="1900238" cy="609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500" dirty="0">
                <a:solidFill>
                  <a:srgbClr val="E75A7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39%</a:t>
            </a:r>
            <a:endParaRPr lang="en-US" sz="3500" dirty="0"/>
          </a:p>
        </p:txBody>
      </p:sp>
      <p:sp>
        <p:nvSpPr>
          <p:cNvPr id="8" name="Text 5"/>
          <p:cNvSpPr/>
          <p:nvPr/>
        </p:nvSpPr>
        <p:spPr>
          <a:xfrm>
            <a:off x="314325" y="1671638"/>
            <a:ext cx="1900238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spc="1" kern="0" dirty="0">
                <a:solidFill>
                  <a:srgbClr val="2C363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TAXA DE ANULAÇÃO (CLUSTER 1)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400050" y="1896666"/>
            <a:ext cx="1728788" cy="609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500" dirty="0">
                <a:solidFill>
                  <a:srgbClr val="E75A7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R$ 803k</a:t>
            </a:r>
            <a:endParaRPr lang="en-US" sz="3500" dirty="0"/>
          </a:p>
        </p:txBody>
      </p:sp>
      <p:sp>
        <p:nvSpPr>
          <p:cNvPr id="10" name="Text 7"/>
          <p:cNvSpPr/>
          <p:nvPr/>
        </p:nvSpPr>
        <p:spPr>
          <a:xfrm>
            <a:off x="483989" y="2512814"/>
            <a:ext cx="1560909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spc="1" kern="0" dirty="0">
                <a:solidFill>
                  <a:srgbClr val="2C363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TICKET MÉDIO DE EMPENHO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2814638" y="658341"/>
            <a:ext cx="5900738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2C363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Gestão de Risco: Perfis e Auditoria</a:t>
            </a:r>
            <a:endParaRPr lang="en-US" sz="2450" dirty="0"/>
          </a:p>
        </p:txBody>
      </p:sp>
      <p:sp>
        <p:nvSpPr>
          <p:cNvPr id="12" name="Text 9"/>
          <p:cNvSpPr/>
          <p:nvPr/>
        </p:nvSpPr>
        <p:spPr>
          <a:xfrm>
            <a:off x="2814638" y="1142665"/>
            <a:ext cx="20359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0798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[1]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103959" y="1142665"/>
            <a:ext cx="561141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2C36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Segmentação estratégica via </a:t>
            </a:r>
            <a:r>
              <a:rPr lang="en-US" sz="900" b="1" dirty="0">
                <a:solidFill>
                  <a:srgbClr val="E75A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Clustering</a:t>
            </a:r>
            <a:r>
              <a:rPr lang="en-US" sz="950" dirty="0">
                <a:solidFill>
                  <a:srgbClr val="2C36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para identificar padrões de comportamento </a:t>
            </a:r>
            <a:r>
              <a:rPr lang="en-US" sz="950" dirty="0">
                <a:solidFill>
                  <a:srgbClr val="2C36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orçamentário.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814638" y="1545561"/>
            <a:ext cx="20359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0798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[2]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103959" y="1545561"/>
            <a:ext cx="561141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2C36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Otimização de recursos: Foco imediato em contratos com maior probabilidade de </a:t>
            </a:r>
            <a:r>
              <a:rPr lang="en-US" sz="900" b="1" dirty="0">
                <a:solidFill>
                  <a:srgbClr val="E75A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falha na </a:t>
            </a:r>
            <a:r>
              <a:rPr lang="en-US" sz="900" b="1" dirty="0">
                <a:solidFill>
                  <a:srgbClr val="E75A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execução</a:t>
            </a:r>
            <a:r>
              <a:rPr lang="en-US" sz="950" dirty="0">
                <a:solidFill>
                  <a:srgbClr val="2C36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2814638" y="1948458"/>
            <a:ext cx="20359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0798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[3]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3103959" y="1948458"/>
            <a:ext cx="543103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2C36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Aplicação prática: Inteligência de dados direcionando a </a:t>
            </a:r>
            <a:r>
              <a:rPr lang="en-US" sz="900" b="1" dirty="0">
                <a:solidFill>
                  <a:srgbClr val="E75A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auditoria preventiva</a:t>
            </a:r>
            <a:r>
              <a:rPr lang="en-US" sz="950" dirty="0">
                <a:solidFill>
                  <a:srgbClr val="2C36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da FACAPE.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2814638" y="2171337"/>
            <a:ext cx="1562863" cy="31075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0798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Perfil de Risco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4377500" y="2171337"/>
            <a:ext cx="1738219" cy="31075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0798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Qtd. Fornecedores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6115720" y="2171337"/>
            <a:ext cx="1212121" cy="310753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0798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Valor Médio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7327841" y="2171337"/>
            <a:ext cx="1387534" cy="31075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0798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Taxa Anulação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2814638" y="2482090"/>
            <a:ext cx="5900738" cy="314325"/>
          </a:xfrm>
          <a:prstGeom prst="rect">
            <a:avLst/>
          </a:prstGeom>
          <a:solidFill>
            <a:srgbClr val="E75A7C">
              <a:alpha val="15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2814638" y="2482090"/>
            <a:ext cx="1562863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75A7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ALTO RISCO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4377500" y="2482090"/>
            <a:ext cx="1738219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75A7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111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6115720" y="2482090"/>
            <a:ext cx="1212121" cy="31432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75A7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R$ 803.450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7327841" y="2482090"/>
            <a:ext cx="1387534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75A7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39.2%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2814638" y="2796415"/>
            <a:ext cx="5900738" cy="310753"/>
          </a:xfrm>
          <a:prstGeom prst="rect">
            <a:avLst/>
          </a:prstGeom>
          <a:solidFill>
            <a:srgbClr val="40798C">
              <a:alpha val="10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2814638" y="2796415"/>
            <a:ext cx="1562863" cy="31075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0798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MÉDIO RISCO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4377500" y="2796415"/>
            <a:ext cx="1738219" cy="31075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0798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342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6115720" y="2796415"/>
            <a:ext cx="1212121" cy="310753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0798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R$ 215.120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7327841" y="2796415"/>
            <a:ext cx="1387534" cy="31075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0798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12.5%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2814638" y="3107168"/>
            <a:ext cx="5900738" cy="310753"/>
          </a:xfrm>
          <a:prstGeom prst="rect">
            <a:avLst/>
          </a:prstGeom>
          <a:solidFill>
            <a:srgbClr val="2C363F">
              <a:alpha val="5000"/>
            </a:srgbClr>
          </a:solidFill>
          <a:ln/>
        </p:spPr>
      </p:sp>
      <p:sp>
        <p:nvSpPr>
          <p:cNvPr id="33" name="Text 30"/>
          <p:cNvSpPr/>
          <p:nvPr/>
        </p:nvSpPr>
        <p:spPr>
          <a:xfrm>
            <a:off x="2814638" y="3107168"/>
            <a:ext cx="1562863" cy="31075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C363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BAIXO RISCO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4377500" y="3107168"/>
            <a:ext cx="1738219" cy="31075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C363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520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6115720" y="3107168"/>
            <a:ext cx="1212121" cy="310753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C363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R$ 45.800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7327841" y="3107168"/>
            <a:ext cx="1387534" cy="31075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C363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2.1%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533883" cy="5143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526739" y="0"/>
            <a:ext cx="7144" cy="5143500"/>
          </a:xfrm>
          <a:prstGeom prst="rect">
            <a:avLst/>
          </a:prstGeom>
          <a:solidFill>
            <a:srgbClr val="2C363F"/>
          </a:solidFill>
          <a:ln/>
        </p:spPr>
      </p:sp>
      <p:sp>
        <p:nvSpPr>
          <p:cNvPr id="5" name="Text 2"/>
          <p:cNvSpPr/>
          <p:nvPr/>
        </p:nvSpPr>
        <p:spPr>
          <a:xfrm>
            <a:off x="548283" y="285750"/>
            <a:ext cx="1432322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2600" dirty="0">
                <a:solidFill>
                  <a:srgbClr val="40798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API LIVE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283" y="734355"/>
            <a:ext cx="1432322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spc="2" kern="0" dirty="0">
                <a:solidFill>
                  <a:srgbClr val="2C363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STATUS DO PROJETO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605433" y="1009390"/>
            <a:ext cx="1318022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2600" dirty="0">
                <a:solidFill>
                  <a:srgbClr val="40798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ESCALA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05433" y="1457995"/>
            <a:ext cx="1318022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spc="2" kern="0" dirty="0">
                <a:solidFill>
                  <a:srgbClr val="2C363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PRÓXIMO PASSO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626864" y="1733029"/>
            <a:ext cx="1275159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2600" dirty="0">
                <a:solidFill>
                  <a:srgbClr val="40798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VIÁVEL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626864" y="2181634"/>
            <a:ext cx="1275159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spc="2" kern="0" dirty="0">
                <a:solidFill>
                  <a:srgbClr val="2C363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CONCLUSÃO TÉCNICA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2814638" y="658341"/>
            <a:ext cx="5900738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2C363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Operacionalização e Visão de Futuro</a:t>
            </a:r>
            <a:endParaRPr lang="en-US" sz="2450" dirty="0"/>
          </a:p>
        </p:txBody>
      </p:sp>
      <p:sp>
        <p:nvSpPr>
          <p:cNvPr id="12" name="Text 9"/>
          <p:cNvSpPr/>
          <p:nvPr/>
        </p:nvSpPr>
        <p:spPr>
          <a:xfrm>
            <a:off x="2814638" y="1178384"/>
            <a:ext cx="20359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75A7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[1]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103959" y="1178384"/>
            <a:ext cx="561141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0798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Demo Técnica:</a:t>
            </a:r>
            <a:r>
              <a:rPr lang="en-US" sz="1050" dirty="0">
                <a:solidFill>
                  <a:srgbClr val="2C36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Integração via API </a:t>
            </a:r>
            <a:r>
              <a:rPr lang="en-US" sz="1000" b="1" dirty="0">
                <a:solidFill>
                  <a:srgbClr val="40798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POST /predict</a:t>
            </a:r>
            <a:r>
              <a:rPr lang="en-US" sz="1050" dirty="0">
                <a:solidFill>
                  <a:srgbClr val="2C36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no Swagger para triagem em </a:t>
            </a:r>
            <a:r>
              <a:rPr lang="en-US" sz="1050" dirty="0">
                <a:solidFill>
                  <a:srgbClr val="2C36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tempo real de novos contratos.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814638" y="1692734"/>
            <a:ext cx="20359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75A7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[2]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103959" y="1692734"/>
            <a:ext cx="561141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0798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Monitoramento:</a:t>
            </a:r>
            <a:r>
              <a:rPr lang="en-US" sz="1050" dirty="0">
                <a:solidFill>
                  <a:srgbClr val="2C36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Uso de </a:t>
            </a:r>
            <a:r>
              <a:rPr lang="en-US" sz="1000" b="1" dirty="0">
                <a:solidFill>
                  <a:srgbClr val="40798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Evidently</a:t>
            </a:r>
            <a:r>
              <a:rPr lang="en-US" sz="1050" dirty="0">
                <a:solidFill>
                  <a:srgbClr val="2C36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para detecção de drift e </a:t>
            </a:r>
            <a:r>
              <a:rPr lang="en-US" sz="1000" b="1" dirty="0">
                <a:solidFill>
                  <a:srgbClr val="40798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Grafana</a:t>
            </a:r>
            <a:r>
              <a:rPr lang="en-US" sz="1050" dirty="0">
                <a:solidFill>
                  <a:srgbClr val="2C36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para </a:t>
            </a:r>
            <a:r>
              <a:rPr lang="en-US" sz="1050" dirty="0">
                <a:solidFill>
                  <a:srgbClr val="2C36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dashboards de performance histórica.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814638" y="2207084"/>
            <a:ext cx="20359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75A7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[3]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3103959" y="2207084"/>
            <a:ext cx="561141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0798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Conclusão:</a:t>
            </a:r>
            <a:r>
              <a:rPr lang="en-US" sz="1050" dirty="0">
                <a:solidFill>
                  <a:srgbClr val="2C36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Modelo robusto para triagem inicial, superando as limitações de uma </a:t>
            </a:r>
            <a:r>
              <a:rPr lang="en-US" sz="1050" dirty="0">
                <a:solidFill>
                  <a:srgbClr val="2C36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base de dados reduzida.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814638" y="2721434"/>
            <a:ext cx="20359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75A7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[4]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3103959" y="2721434"/>
            <a:ext cx="561141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0798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Expansão:</a:t>
            </a:r>
            <a:r>
              <a:rPr lang="en-US" sz="1050" dirty="0">
                <a:solidFill>
                  <a:srgbClr val="2C36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Potencial de escala para outros órgãos públicos, fortalecendo a </a:t>
            </a:r>
            <a:r>
              <a:rPr lang="en-US" sz="1050" dirty="0">
                <a:solidFill>
                  <a:srgbClr val="2C36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transparência e o controle regional.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814638" y="3385803"/>
            <a:ext cx="821531" cy="246459"/>
          </a:xfrm>
          <a:prstGeom prst="rect">
            <a:avLst/>
          </a:prstGeom>
          <a:solidFill>
            <a:srgbClr val="40798C">
              <a:alpha val="10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2814638" y="3385803"/>
            <a:ext cx="821531" cy="246459"/>
          </a:xfrm>
          <a:prstGeom prst="rect">
            <a:avLst/>
          </a:prstGeom>
          <a:noFill/>
          <a:ln/>
        </p:spPr>
        <p:txBody>
          <a:bodyPr wrap="none" lIns="127508" tIns="68072" rIns="127508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C363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Swagger UI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4527938" y="3385803"/>
            <a:ext cx="942975" cy="246459"/>
          </a:xfrm>
          <a:prstGeom prst="rect">
            <a:avLst/>
          </a:prstGeom>
          <a:solidFill>
            <a:srgbClr val="40798C">
              <a:alpha val="10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4527938" y="3385803"/>
            <a:ext cx="942975" cy="246459"/>
          </a:xfrm>
          <a:prstGeom prst="rect">
            <a:avLst/>
          </a:prstGeom>
          <a:noFill/>
          <a:ln/>
        </p:spPr>
        <p:txBody>
          <a:bodyPr wrap="none" lIns="127508" tIns="68072" rIns="127508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C363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Evidently AI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6362681" y="3385803"/>
            <a:ext cx="639366" cy="246459"/>
          </a:xfrm>
          <a:prstGeom prst="rect">
            <a:avLst/>
          </a:prstGeom>
          <a:solidFill>
            <a:srgbClr val="40798C">
              <a:alpha val="10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6362681" y="3385803"/>
            <a:ext cx="639366" cy="246459"/>
          </a:xfrm>
          <a:prstGeom prst="rect">
            <a:avLst/>
          </a:prstGeom>
          <a:noFill/>
          <a:ln/>
        </p:spPr>
        <p:txBody>
          <a:bodyPr wrap="none" lIns="127508" tIns="68072" rIns="127508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C363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Grafana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7893816" y="3385803"/>
            <a:ext cx="821531" cy="246459"/>
          </a:xfrm>
          <a:prstGeom prst="rect">
            <a:avLst/>
          </a:prstGeom>
          <a:solidFill>
            <a:srgbClr val="40798C">
              <a:alpha val="10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7893816" y="3385803"/>
            <a:ext cx="821531" cy="246459"/>
          </a:xfrm>
          <a:prstGeom prst="rect">
            <a:avLst/>
          </a:prstGeom>
          <a:noFill/>
          <a:ln/>
        </p:spPr>
        <p:txBody>
          <a:bodyPr wrap="none" lIns="127508" tIns="68072" rIns="127508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C363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Python API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2026-06-15T15:10:00Z</dcterms:created>
  <dcterms:modified xsi:type="dcterms:W3CDTF">2026-06-15T15:10:00Z</dcterms:modified>
</cp:coreProperties>
</file>